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df90fb36a64ee1" /><Relationship Type="http://schemas.openxmlformats.org/officeDocument/2006/relationships/extended-properties" Target="/docProps/app.xml" Id="R8944d389ab594d3a" /><Relationship Type="http://schemas.openxmlformats.org/officeDocument/2006/relationships/officeDocument" Target="/ppt/presentation.xml" Id="R848d8c1a9cbe47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0a059aad6c456f"/>
  </p:sldMasterIdLst>
  <p:notesMasterIdLst>
    <p:notesMasterId xmlns:r="http://schemas.openxmlformats.org/officeDocument/2006/relationships" r:id="R60934c73cc184b7a"/>
  </p:notesMasterIdLst>
  <p:sldIdLst>
    <p:sldId xmlns:r="http://schemas.openxmlformats.org/officeDocument/2006/relationships" id="256" r:id="R92fd5c22cce54385"/>
    <p:sldId xmlns:r="http://schemas.openxmlformats.org/officeDocument/2006/relationships" id="257" r:id="R6b1b4e59cf6c4055"/>
    <p:sldId xmlns:r="http://schemas.openxmlformats.org/officeDocument/2006/relationships" id="258" r:id="Rbcf2c69ff3cd4c49"/>
    <p:sldId xmlns:r="http://schemas.openxmlformats.org/officeDocument/2006/relationships" id="259" r:id="R1794329b49a84ecb"/>
    <p:sldId xmlns:r="http://schemas.openxmlformats.org/officeDocument/2006/relationships" id="260" r:id="R35a0ca0e32884599"/>
    <p:sldId xmlns:r="http://schemas.openxmlformats.org/officeDocument/2006/relationships" id="261" r:id="R448d5db3291f480d"/>
    <p:sldId xmlns:r="http://schemas.openxmlformats.org/officeDocument/2006/relationships" id="262" r:id="R308eb565e8994dd9"/>
    <p:sldId xmlns:r="http://schemas.openxmlformats.org/officeDocument/2006/relationships" id="263" r:id="R13db886a826e4f30"/>
    <p:sldId xmlns:r="http://schemas.openxmlformats.org/officeDocument/2006/relationships" id="264" r:id="Recaf9434f859427c"/>
    <p:sldId xmlns:r="http://schemas.openxmlformats.org/officeDocument/2006/relationships" id="265" r:id="R89c13cac5d9c4f07"/>
    <p:sldId xmlns:r="http://schemas.openxmlformats.org/officeDocument/2006/relationships" id="266" r:id="R5956b474baef4601"/>
    <p:sldId xmlns:r="http://schemas.openxmlformats.org/officeDocument/2006/relationships" id="267" r:id="Rbe66e3ad648f4a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60aa2727964d95" /><Relationship Type="http://schemas.openxmlformats.org/officeDocument/2006/relationships/slideMaster" Target="/ppt/slideMasters/slideMaster1.xml" Id="R8c0a059aad6c456f" /><Relationship Type="http://schemas.openxmlformats.org/officeDocument/2006/relationships/notesMaster" Target="/ppt/notesMasters/notesMaster1.xml" Id="R60934c73cc184b7a" /><Relationship Type="http://schemas.openxmlformats.org/officeDocument/2006/relationships/presProps" Target="/ppt/presProps.xml" Id="R64d9db9059ed419d" /><Relationship Type="http://schemas.openxmlformats.org/officeDocument/2006/relationships/tableStyles" Target="/ppt/tableStyles.xml" Id="Rbd5b9016b0b14002" /><Relationship Type="http://schemas.openxmlformats.org/officeDocument/2006/relationships/slide" Target="/ppt/slides/slide1.xml" Id="R92fd5c22cce54385" /><Relationship Type="http://schemas.openxmlformats.org/officeDocument/2006/relationships/slide" Target="/ppt/slides/slide2.xml" Id="R6b1b4e59cf6c4055" /><Relationship Type="http://schemas.openxmlformats.org/officeDocument/2006/relationships/slide" Target="/ppt/slides/slide3.xml" Id="Rbcf2c69ff3cd4c49" /><Relationship Type="http://schemas.openxmlformats.org/officeDocument/2006/relationships/slide" Target="/ppt/slides/slide4.xml" Id="R1794329b49a84ecb" /><Relationship Type="http://schemas.openxmlformats.org/officeDocument/2006/relationships/slide" Target="/ppt/slides/slide5.xml" Id="R35a0ca0e32884599" /><Relationship Type="http://schemas.openxmlformats.org/officeDocument/2006/relationships/slide" Target="/ppt/slides/slide6.xml" Id="R448d5db3291f480d" /><Relationship Type="http://schemas.openxmlformats.org/officeDocument/2006/relationships/slide" Target="/ppt/slides/slide7.xml" Id="R308eb565e8994dd9" /><Relationship Type="http://schemas.openxmlformats.org/officeDocument/2006/relationships/slide" Target="/ppt/slides/slide8.xml" Id="R13db886a826e4f30" /><Relationship Type="http://schemas.openxmlformats.org/officeDocument/2006/relationships/slide" Target="/ppt/slides/slide9.xml" Id="Recaf9434f859427c" /><Relationship Type="http://schemas.openxmlformats.org/officeDocument/2006/relationships/slide" Target="/ppt/slides/slide10.xml" Id="R89c13cac5d9c4f07" /><Relationship Type="http://schemas.openxmlformats.org/officeDocument/2006/relationships/slide" Target="/ppt/slides/slide11.xml" Id="R5956b474baef4601" /><Relationship Type="http://schemas.openxmlformats.org/officeDocument/2006/relationships/slide" Target="/ppt/slides/slide12.xml" Id="Rbe66e3ad648f4a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76c69ceeda4f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33f73ba6484595" /><Relationship Type="http://schemas.openxmlformats.org/officeDocument/2006/relationships/notesMaster" Target="/ppt/notesMasters/notesMaster1.xml" Id="Rb8214185d64540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020f6b89074f10" /><Relationship Type="http://schemas.openxmlformats.org/officeDocument/2006/relationships/notesMaster" Target="/ppt/notesMasters/notesMaster1.xml" Id="Rc3cea85ce69d49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05b0584ef9459a" /><Relationship Type="http://schemas.openxmlformats.org/officeDocument/2006/relationships/notesMaster" Target="/ppt/notesMasters/notesMaster1.xml" Id="Rfc2f5716046f44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9ebb8208e64574" /><Relationship Type="http://schemas.openxmlformats.org/officeDocument/2006/relationships/notesMaster" Target="/ppt/notesMasters/notesMaster1.xml" Id="R4c7625ffa3684f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51f69e8bda4c07" /><Relationship Type="http://schemas.openxmlformats.org/officeDocument/2006/relationships/notesMaster" Target="/ppt/notesMasters/notesMaster1.xml" Id="R8ae517edefe142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6eb2747fb547d8" /><Relationship Type="http://schemas.openxmlformats.org/officeDocument/2006/relationships/notesMaster" Target="/ppt/notesMasters/notesMaster1.xml" Id="Ra97c55ba040944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0af7dd4ee644dd" /><Relationship Type="http://schemas.openxmlformats.org/officeDocument/2006/relationships/notesMaster" Target="/ppt/notesMasters/notesMaster1.xml" Id="Rb285c71b24e84c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7c54d854464102" /><Relationship Type="http://schemas.openxmlformats.org/officeDocument/2006/relationships/notesMaster" Target="/ppt/notesMasters/notesMaster1.xml" Id="R42f395a6d4f446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873867e6534909" /><Relationship Type="http://schemas.openxmlformats.org/officeDocument/2006/relationships/notesMaster" Target="/ppt/notesMasters/notesMaster1.xml" Id="R0a65dbf5c00c44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1457ba679c47ff" /><Relationship Type="http://schemas.openxmlformats.org/officeDocument/2006/relationships/notesMaster" Target="/ppt/notesMasters/notesMaster1.xml" Id="R1c21df1015a446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32df7d77034cfc" /><Relationship Type="http://schemas.openxmlformats.org/officeDocument/2006/relationships/notesMaster" Target="/ppt/notesMasters/notesMaster1.xml" Id="Ra6abbbff68dc46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ec3222f5254120" /><Relationship Type="http://schemas.openxmlformats.org/officeDocument/2006/relationships/notesMaster" Target="/ppt/notesMasters/notesMaster1.xml" Id="Ra7b5160b7be04c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78cd63aca42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51f8a66c6457c" /><Relationship Type="http://schemas.openxmlformats.org/officeDocument/2006/relationships/slideLayout" Target="/ppt/slideLayouts/slideLayout1.xml" Id="R5650fbeeb04946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50fbeeb04946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3bb9d20984e92" /><Relationship Type="http://schemas.openxmlformats.org/officeDocument/2006/relationships/image" Target="/ppt/media/image.png" Id="Rd64ee48784794c4c" /><Relationship Type="http://schemas.openxmlformats.org/officeDocument/2006/relationships/image" Target="/ppt/media/image.svg" Id="Red499ed36d7f4814" /><Relationship Type="http://schemas.openxmlformats.org/officeDocument/2006/relationships/notesSlide" Target="/ppt/notesSlides/notesSlide1.xml" Id="Rbd940078156647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70c5ed75a41b8" /><Relationship Type="http://schemas.openxmlformats.org/officeDocument/2006/relationships/notesSlide" Target="/ppt/notesSlides/notesSlide2.xml" Id="Rb0de8790825c4c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a2d44f88f4a00" /><Relationship Type="http://schemas.openxmlformats.org/officeDocument/2006/relationships/notesSlide" Target="/ppt/notesSlides/notesSlide3.xml" Id="Re9016568064948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d99da932547b4" /><Relationship Type="http://schemas.openxmlformats.org/officeDocument/2006/relationships/notesSlide" Target="/ppt/notesSlides/notesSlide4.xml" Id="R5a7ea1cdca2343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0cda2d2b847bd" /><Relationship Type="http://schemas.openxmlformats.org/officeDocument/2006/relationships/notesSlide" Target="/ppt/notesSlides/notesSlide5.xml" Id="Ref903f13b5f74e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e06ddb29f4f58" /><Relationship Type="http://schemas.openxmlformats.org/officeDocument/2006/relationships/notesSlide" Target="/ppt/notesSlides/notesSlide6.xml" Id="Rd2e03e46bd7c44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7241ee4a64615" /><Relationship Type="http://schemas.openxmlformats.org/officeDocument/2006/relationships/notesSlide" Target="/ppt/notesSlides/notesSlide7.xml" Id="R7dd1bbf5fcaa4c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74eb9009840e1" /><Relationship Type="http://schemas.openxmlformats.org/officeDocument/2006/relationships/notesSlide" Target="/ppt/notesSlides/notesSlide8.xml" Id="Rdcef849b6e2246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03ca2b6284835" /><Relationship Type="http://schemas.openxmlformats.org/officeDocument/2006/relationships/notesSlide" Target="/ppt/notesSlides/notesSlide9.xml" Id="R77b5411f481242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a047e9e414643" /><Relationship Type="http://schemas.openxmlformats.org/officeDocument/2006/relationships/notesSlide" Target="/ppt/notesSlides/notesSlide10.xml" Id="R549971658e8349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d9cac6d524a72" /><Relationship Type="http://schemas.openxmlformats.org/officeDocument/2006/relationships/notesSlide" Target="/ppt/notesSlides/notesSlide11.xml" Id="Rf734ba21f4434d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7956bb6ed49a8" /><Relationship Type="http://schemas.openxmlformats.org/officeDocument/2006/relationships/notesSlide" Target="/ppt/notesSlides/notesSlide12.xml" Id="R7de118dd7f1e49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ee48784794c4c">
            <a:extLst>
              <a:ext uri="{96DAC541-7B7A-43D3-8B79-37D633B846F1}">
                <asvg:svgBlip xmlns:asvg="http://schemas.microsoft.com/office/drawing/2016/SVG/main" r:embed="Red499ed36d7f48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62650" y="800100"/>
            <a:ext cx="5334000" cy="320040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9F034-63F3-43DA-88D0-B5C4B772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72"/>
                </a:solidFill>
              </a:defRPr>
            </a:pPr>
            <a:r>
              <a:rPr sz="1350" b="1">
                <a:solidFill>
                  <a:srgbClr val="176B72"/>
                </a:solidFill>
              </a:rPr>
              <a:t>Made for Ms Shirley's Students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A91E6-4C64-4ADF-B576-A0576C5B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B33"/>
                </a:solidFill>
              </a:defRPr>
            </a:pPr>
            <a:r>
              <a:rPr sz="4350" b="1">
                <a:solidFill>
                  <a:srgbClr val="172B33"/>
                </a:solidFill>
              </a:rPr>
              <a:t>Daily English Games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EBB0C-3CD1-4302-9CFE-565309E3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7077"/>
                </a:solidFill>
              </a:defRPr>
            </a:pPr>
            <a:r>
              <a:rPr sz="1950" b="0">
                <a:solidFill>
                  <a:srgbClr val="5E7077"/>
                </a:solidFill>
              </a:rPr>
              <a:t>用万用句型和小游戏，让学生敢开口说日常英文。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D5605-A575-45A2-B5C4-17116785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6B7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C6CB7-1D15-4975-A8FD-2166D54F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100 常用句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DBD42-527C-4350-AB9A-2E619998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665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ED448-4D28-4BF0-9F57-66F16531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672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 个小游戏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FA5ED-7E3C-4393-9D1C-A88B78C7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719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F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DB9B5-A28C-42AB-92A9-064FA0D9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672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15 分钟可上课</a:t>
            </a:r>
          </a:p>
        </p:txBody>
      </p:sp>
    </p:spTree>
    <p:extLst>
      <p:ext uri="{BB962C8B-B14F-4D97-AF65-F5344CB8AC3E}">
        <p14:creationId xmlns:p14="http://schemas.microsoft.com/office/powerpoint/2010/main" val="374995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9FCD9-4943-4DEF-BA19-2A0A1855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72"/>
                </a:solidFill>
              </a:defRPr>
            </a:pPr>
            <a:r>
              <a:rPr sz="1200" b="1">
                <a:solidFill>
                  <a:srgbClr val="176B72"/>
                </a:solidFill>
              </a:rPr>
              <a:t>LESSON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2A7F3-5F15-4D35-AEBA-647649D4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B33"/>
                </a:solidFill>
              </a:defRPr>
            </a:pPr>
            <a:r>
              <a:rPr sz="3150" b="1">
                <a:solidFill>
                  <a:srgbClr val="172B33"/>
                </a:solidFill>
              </a:rPr>
              <a:t>15分钟训练法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91505-9F10-4C9A-9E2E-E443A68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9D816-A6B5-4584-8105-07801205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90700"/>
            <a:ext cx="889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1. Listen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A4571-D2FD-423D-AC7F-1051C33F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14550"/>
            <a:ext cx="889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老师示范一句，学生只听关键词。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DE6A2-C9E0-444C-838B-7A731D2B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0294B-B8AA-4C78-8E6D-CECA2A42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09850"/>
            <a:ext cx="889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2. Repeat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640B1-25A7-421A-B645-C9E34DFA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889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全班跟读 3 次：慢、自然、有表情。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FCAC1-EC5C-4A48-B5B8-BEFF72F3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5ACAA-9875-406B-B90F-1043966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889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3. Replace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83741-E63E-4FF2-AA8A-8E4AC2BB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52850"/>
            <a:ext cx="889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换食物、地点、要求，学生马上造新句。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49D69-2813-4DBE-9B11-9CEFA0C2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B6E3B-37A8-42ED-AD1C-FA29A31C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48150"/>
            <a:ext cx="889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4. 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57F0A-12AB-45D1-83FD-CC79BF96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889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用小游戏让学生在情境里说出来。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48B70-9292-4448-BB13-E02FDAA7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12F9E-8A5A-449F-991D-8D33DC0C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889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5. Speak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1E7D1-0F2F-498C-AA21-962B77B0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91150"/>
            <a:ext cx="889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两人一组角色扮演，老师只纠正重点。</a:t>
            </a:r>
          </a:p>
        </p:txBody>
      </p:sp>
    </p:spTree>
    <p:extLst>
      <p:ext uri="{BB962C8B-B14F-4D97-AF65-F5344CB8AC3E}">
        <p14:creationId xmlns:p14="http://schemas.microsoft.com/office/powerpoint/2010/main" val="424518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E7CAF6-7383-48B0-86E9-0BF811A2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72"/>
                </a:solidFill>
              </a:defRPr>
            </a:pPr>
            <a:r>
              <a:rPr sz="1200" b="1">
                <a:solidFill>
                  <a:srgbClr val="176B72"/>
                </a:solidFill>
              </a:rPr>
              <a:t>MAGIC SENTENCES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515D8-9145-4791-8836-615BDC35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B33"/>
                </a:solidFill>
              </a:defRPr>
            </a:pPr>
            <a:r>
              <a:rPr sz="3150" b="1">
                <a:solidFill>
                  <a:srgbClr val="172B33"/>
                </a:solidFill>
              </a:rPr>
              <a:t>10个万用句型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602F6-C9EC-4231-BBA1-B829FAB5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D4B3E-54BA-4140-8182-1559E61D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</a:defRPr>
            </a:pPr>
            <a:r>
              <a:rPr sz="1650" b="1">
                <a:solidFill>
                  <a:srgbClr val="176B72"/>
                </a:solidFill>
              </a:rPr>
              <a:t>Can I have ..., please?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E06D5-9F3D-4254-9CBB-5C7A5DA4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1A8C9-A0D1-4E5E-9681-556494F1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3"/>
                </a:solidFill>
              </a:defRPr>
            </a:pPr>
            <a:r>
              <a:rPr sz="1650" b="1">
                <a:solidFill>
                  <a:srgbClr val="172B33"/>
                </a:solidFill>
              </a:rPr>
              <a:t>I would like ..., please.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48C70-ADC9-49EF-BEA9-FE1265D6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26EEE-A4D7-4E6C-963E-C4C4E438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3"/>
                </a:solidFill>
              </a:defRPr>
            </a:pPr>
            <a:r>
              <a:rPr sz="1650" b="1">
                <a:solidFill>
                  <a:srgbClr val="172B33"/>
                </a:solidFill>
              </a:rPr>
              <a:t>Can you ..., please?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016FD-6DC3-4A25-AA33-EACE7983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F034F-D6DD-4DD4-AF16-526E58E1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</a:defRPr>
            </a:pPr>
            <a:r>
              <a:rPr sz="1650" b="1">
                <a:solidFill>
                  <a:srgbClr val="176B72"/>
                </a:solidFill>
              </a:rPr>
              <a:t>May I ..., please?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05F9D-66AD-414E-9FFD-4D9B252C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23A0B-8F21-4248-9290-55EBBC18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3"/>
                </a:solidFill>
              </a:defRPr>
            </a:pPr>
            <a:r>
              <a:rPr sz="1650" b="1">
                <a:solidFill>
                  <a:srgbClr val="172B33"/>
                </a:solidFill>
              </a:rPr>
              <a:t>Where can I find ...?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0DBB2-9C7E-496C-A2DB-4D654AC5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9090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582A6-64A4-49BD-8C59-D6541CA9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3"/>
                </a:solidFill>
              </a:defRPr>
            </a:pPr>
            <a:r>
              <a:rPr sz="1650" b="1">
                <a:solidFill>
                  <a:srgbClr val="172B33"/>
                </a:solidFill>
              </a:rPr>
              <a:t>How much is ...?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8EF1C-E4FE-409F-88B3-43EC886D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BE0E5-5F52-438B-A6CA-4F7C4C0A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</a:defRPr>
            </a:pPr>
            <a:r>
              <a:rPr sz="1650" b="1">
                <a:solidFill>
                  <a:srgbClr val="176B72"/>
                </a:solidFill>
              </a:rPr>
              <a:t>Do you have ...?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7268B-DD75-4FE1-A6FB-9A063654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34FBF-5ECA-4B1D-A70E-40F2B38B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3"/>
                </a:solidFill>
              </a:defRPr>
            </a:pPr>
            <a:r>
              <a:rPr sz="1650" b="1">
                <a:solidFill>
                  <a:srgbClr val="172B33"/>
                </a:solidFill>
              </a:rPr>
              <a:t>I need 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F2552-0FF6-4099-AD2F-F3FBC8F3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81AFE-1BB4-4898-A2AB-CD42FE0D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3"/>
                </a:solidFill>
              </a:defRPr>
            </a:pPr>
            <a:r>
              <a:rPr sz="1650" b="1">
                <a:solidFill>
                  <a:srgbClr val="172B33"/>
                </a:solidFill>
              </a:rPr>
              <a:t>I don't understand 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129B0-C6BA-449F-BA83-78D6B9EC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56F35-7A64-4631-B114-6972BD44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62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</a:defRPr>
            </a:pPr>
            <a:r>
              <a:rPr sz="1650" b="1">
                <a:solidFill>
                  <a:srgbClr val="176B72"/>
                </a:solidFill>
              </a:rPr>
              <a:t>Could you speak more slowly?</a:t>
            </a:r>
          </a:p>
        </p:txBody>
      </p:sp>
    </p:spTree>
    <p:extLst>
      <p:ext uri="{BB962C8B-B14F-4D97-AF65-F5344CB8AC3E}">
        <p14:creationId xmlns:p14="http://schemas.microsoft.com/office/powerpoint/2010/main" val="919355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CB54F8-CC28-49B2-B7F9-D003BB04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72"/>
                </a:solidFill>
              </a:defRPr>
            </a:pPr>
            <a:r>
              <a:rPr sz="1200" b="1">
                <a:solidFill>
                  <a:srgbClr val="176B72"/>
                </a:solidFill>
              </a:rPr>
              <a:t>REPLACE WORDS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A009E-2157-4D6B-9546-4691868C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B33"/>
                </a:solidFill>
              </a:defRPr>
            </a:pPr>
            <a:r>
              <a:rPr sz="3150" b="1">
                <a:solidFill>
                  <a:srgbClr val="172B33"/>
                </a:solidFill>
              </a:rPr>
              <a:t>替换词表：学生会换，就会说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41420-3695-4F63-A686-F18EA15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6B7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584B3-A0C1-4F9B-97A3-41D34AC0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Food / Drink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DA4DB-74BD-434D-933B-37768C8A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526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fried rice, chicken rice, noodles, milk tea, iced Milo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DB305-9DD5-413E-88C1-599C6D82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F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DB882-97E1-4AA2-B08C-FCEDB3A9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Daily Items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D0315-3FE4-43D9-AB2F-708B2198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shampoo, toothpaste, tissues, notebook, plastic bag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C5832-5E3C-4855-9F48-7466581B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F8D5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41553-3AA1-4C63-84EE-96A41506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3"/>
                </a:solidFill>
              </a:defRPr>
            </a:pPr>
            <a:r>
              <a:rPr sz="1425" b="1">
                <a:solidFill>
                  <a:srgbClr val="172B33"/>
                </a:solidFill>
              </a:rPr>
              <a:t>Requests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9EF68-D157-428E-A784-459B8F3F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less sugar, no ice, less chilli, a receipt, large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D870D-DBD7-49B7-BADD-FFD9C343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BD4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EAF3B-53CB-4319-988F-B93DAD26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3"/>
                </a:solidFill>
              </a:defRPr>
            </a:pPr>
            <a:r>
              <a:rPr sz="1425" b="1">
                <a:solidFill>
                  <a:srgbClr val="172B33"/>
                </a:solidFill>
              </a:rPr>
              <a:t>Places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01A59-35D5-4A33-84DF-C6C5355F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canteen, classroom, toilet, shop, school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E4DAF-8856-43D8-B5D8-1C683C7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665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5DA26-6178-4643-A4A4-4D4D5996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People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0F4C7-4B79-4BA6-9068-FE078DF6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530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teacher, friend, cashier, waiter, parent</a:t>
            </a:r>
          </a:p>
        </p:txBody>
      </p:sp>
    </p:spTree>
    <p:extLst>
      <p:ext uri="{BB962C8B-B14F-4D97-AF65-F5344CB8AC3E}">
        <p14:creationId xmlns:p14="http://schemas.microsoft.com/office/powerpoint/2010/main" val="7182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748198-6E98-4FA8-91E5-CBEA3114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72"/>
                </a:solidFill>
              </a:defRPr>
            </a:pPr>
            <a:r>
              <a:rPr sz="1200" b="1">
                <a:solidFill>
                  <a:srgbClr val="176B72"/>
                </a:solidFill>
              </a:rPr>
              <a:t>GAME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0EC72-0D41-486E-9C3E-8926734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B33"/>
                </a:solidFill>
              </a:defRPr>
            </a:pPr>
            <a:r>
              <a:rPr sz="3150" b="1">
                <a:solidFill>
                  <a:srgbClr val="172B33"/>
                </a:solidFill>
              </a:rPr>
              <a:t>情境快选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7997-8FCD-4D28-AEF7-B705515A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B72"/>
                </a:solidFill>
              </a:defRPr>
            </a:pPr>
            <a:r>
              <a:rPr sz="2100" b="1">
                <a:solidFill>
                  <a:srgbClr val="176B72"/>
                </a:solidFill>
              </a:rPr>
              <a:t>玩法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BB825-60E7-4976-8813-6D101E39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24073-7D06-499E-91BD-4E2CFB7B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241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老师显示中文情境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349A3-54D6-404D-8923-B7E1DA12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479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例：你在餐厅要看菜单。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E549B-80D2-40E3-BD39-19D04A8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D101A-F1AF-47F9-B4C6-A34B7B23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学生选正确英文句子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5C804-6C4E-4DC4-9373-738E6D0A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04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Can we see the menu, please?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BEBDD-3379-49C8-BCFF-7B7C1531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09BF5-551C-4C62-815A-90BBA63D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291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答对后必须开口念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22ACC-C910-4883-918B-6BDA7F4C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529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一题一分，声音清楚多一分。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D2E76-FCEA-4E2C-99C2-1CF59E5D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D5D4D-634D-4E4C-90B7-A5D45627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B33"/>
                </a:solidFill>
              </a:defRPr>
            </a:pPr>
            <a:r>
              <a:rPr sz="1950" b="1">
                <a:solidFill>
                  <a:srgbClr val="172B33"/>
                </a:solidFill>
              </a:rPr>
              <a:t>Classroom tip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FCD46-47FB-48FD-9B6F-C1572922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77"/>
                </a:solidFill>
              </a:defRPr>
            </a:pPr>
            <a:r>
              <a:rPr sz="1800" b="0">
                <a:solidFill>
                  <a:srgbClr val="5E7077"/>
                </a:solidFill>
              </a:rPr>
              <a:t>让学生先找关键词：餐厅、菜单、付款、少糖。不要急着翻译整句。</a:t>
            </a:r>
          </a:p>
        </p:txBody>
      </p:sp>
    </p:spTree>
    <p:extLst>
      <p:ext uri="{BB962C8B-B14F-4D97-AF65-F5344CB8AC3E}">
        <p14:creationId xmlns:p14="http://schemas.microsoft.com/office/powerpoint/2010/main" val="1510178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63D7B-8E68-4C1F-A7FA-CBEFD96A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72"/>
                </a:solidFill>
              </a:defRPr>
            </a:pPr>
            <a:r>
              <a:rPr sz="1200" b="1">
                <a:solidFill>
                  <a:srgbClr val="176B72"/>
                </a:solidFill>
              </a:rPr>
              <a:t>GAME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C1DB9-D4F8-4B50-A519-02DDB5D6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B33"/>
                </a:solidFill>
              </a:defRPr>
            </a:pPr>
            <a:r>
              <a:rPr sz="3150" b="1">
                <a:solidFill>
                  <a:srgbClr val="172B33"/>
                </a:solidFill>
              </a:rPr>
              <a:t>奶茶点单挑战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8A81B-2EDD-4D07-88C1-6D9156AA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7077"/>
                </a:solidFill>
              </a:defRPr>
            </a:pPr>
            <a:r>
              <a:rPr sz="1950" b="0">
                <a:solidFill>
                  <a:srgbClr val="5E7077"/>
                </a:solidFill>
              </a:rPr>
              <a:t>学生选择 drink + sugar + ice，自动组成完整句。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0742F-FE90-4C2C-B744-9E60B6A8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1905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6B7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2EF87-6483-4D49-81AE-55882DC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milk tea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71A55-8227-49F7-81EB-F6150AE7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1905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BD4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10B4D-36B2-4BB3-B222-E1356EC9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717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3"/>
                </a:solidFill>
              </a:defRPr>
            </a:pPr>
            <a:r>
              <a:rPr sz="1425" b="1">
                <a:solidFill>
                  <a:srgbClr val="172B33"/>
                </a:solidFill>
              </a:rPr>
              <a:t>less sugar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A4A7C-A4F9-4935-BFCD-33A76894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1905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F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1EB66-2E6A-4F81-A892-30646855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less 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74898-1B16-49CA-B80C-70F9E267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B33"/>
                </a:solidFill>
              </a:defRPr>
            </a:pPr>
            <a:r>
              <a:rPr sz="2550" b="1">
                <a:solidFill>
                  <a:srgbClr val="172B33"/>
                </a:solidFill>
              </a:rPr>
              <a:t>Can I have one milk tea with less sugar and less ice, please?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FEC1F-09CD-4AE9-9F33-2720781D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86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7077"/>
                </a:solidFill>
              </a:defRPr>
            </a:pPr>
            <a:r>
              <a:rPr sz="1800" b="0">
                <a:solidFill>
                  <a:srgbClr val="5E7077"/>
                </a:solidFill>
              </a:rPr>
              <a:t>升级玩法：学生必须加一个 topping，例如 pearls / pudding / grass jelly。</a:t>
            </a:r>
          </a:p>
        </p:txBody>
      </p:sp>
    </p:spTree>
    <p:extLst>
      <p:ext uri="{BB962C8B-B14F-4D97-AF65-F5344CB8AC3E}">
        <p14:creationId xmlns:p14="http://schemas.microsoft.com/office/powerpoint/2010/main" val="1816894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2938F-6EEB-4F50-98F0-9C528A21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72"/>
                </a:solidFill>
              </a:defRPr>
            </a:pPr>
            <a:r>
              <a:rPr sz="1200" b="1">
                <a:solidFill>
                  <a:srgbClr val="176B72"/>
                </a:solidFill>
              </a:rPr>
              <a:t>GAME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C9F9E-A97D-42B3-ABF1-CB77622B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B33"/>
                </a:solidFill>
              </a:defRPr>
            </a:pPr>
            <a:r>
              <a:rPr sz="3150" b="1">
                <a:solidFill>
                  <a:srgbClr val="172B33"/>
                </a:solidFill>
              </a:rPr>
              <a:t>句子拼拼乐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2BEFA-73F0-4063-B69E-9303045C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7077"/>
                </a:solidFill>
              </a:defRPr>
            </a:pPr>
            <a:r>
              <a:rPr sz="1950" b="0">
                <a:solidFill>
                  <a:srgbClr val="5E7077"/>
                </a:solidFill>
              </a:rPr>
              <a:t>把单词打乱，让学生点击或拿词卡排成正确句子。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CD548-AB08-445D-99AA-72FB8251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104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DE5BE-50DE-4F3C-B6EC-8A68B09C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Can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3B8DF-E7DB-438A-B487-744C6FF0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1104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1BFA0-C178-456A-9848-6A6A6B96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14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8109A-63D1-46E6-9E23-55631657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4150"/>
            <a:ext cx="1104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9D519-E364-4819-A40D-CA856E15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14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have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7A7F1-52C3-4F47-8598-BB1419B2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1104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8BCEB-CE9C-49B6-B7A6-8C062DFA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14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76A6C-D69E-4924-86D9-32A5012F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1104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843AC-553F-44B3-BD7A-DB5B156A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milk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9525B-843C-4408-B8C8-764C1ED6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1104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140F7-3153-4EE4-A71D-F46A1D2D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14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tea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27949-3283-4460-962A-F8EC64BF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1104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7B5F4-C41D-489A-944A-DFB4420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please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A65DA-3BC7-4E53-AE5C-A805B8F1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B72"/>
                </a:solidFill>
              </a:defRPr>
            </a:pPr>
            <a:r>
              <a:rPr sz="2250" b="1">
                <a:solidFill>
                  <a:srgbClr val="176B72"/>
                </a:solidFill>
              </a:rPr>
              <a:t>课堂规则：排对 + 念出来 + 换一个关键词。</a:t>
            </a:r>
          </a:p>
        </p:txBody>
      </p:sp>
    </p:spTree>
    <p:extLst>
      <p:ext uri="{BB962C8B-B14F-4D97-AF65-F5344CB8AC3E}">
        <p14:creationId xmlns:p14="http://schemas.microsoft.com/office/powerpoint/2010/main" val="1051779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54814-8815-412A-9C3B-62B05098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72"/>
                </a:solidFill>
              </a:defRPr>
            </a:pPr>
            <a:r>
              <a:rPr sz="1200" b="1">
                <a:solidFill>
                  <a:srgbClr val="176B72"/>
                </a:solidFill>
              </a:rPr>
              <a:t>GAME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FCD87-4447-4359-A44A-496C1273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B33"/>
                </a:solidFill>
              </a:defRPr>
            </a:pPr>
            <a:r>
              <a:rPr sz="3150" b="1">
                <a:solidFill>
                  <a:srgbClr val="172B33"/>
                </a:solidFill>
              </a:rPr>
              <a:t>30秒快答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A7423-46AA-43B0-85CB-8A699828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A9F57-1D81-43C9-A261-E6D64F4A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794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5948E-72D1-4ED2-9DC1-D9657D86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33600"/>
            <a:ext cx="794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训练学生快速把中文情境连接到英文句子。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BEBB9-2851-4548-969A-E22C0A3F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CEF06-F82C-4A7D-AEF8-EEA21E11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794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玩法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5575E-2512-400A-AC7D-C55AA4B1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38500"/>
            <a:ext cx="794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30 秒内连续选答案。答对马上下一题。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8D200-08B0-49EA-B942-521FDFC6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5766D-A75E-4119-8E72-B96D8207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794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3"/>
                </a:solidFill>
              </a:defRPr>
            </a:pPr>
            <a:r>
              <a:rPr sz="1800" b="1">
                <a:solidFill>
                  <a:srgbClr val="172B33"/>
                </a:solidFill>
              </a:rPr>
              <a:t>奖励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07048-C09C-4434-A782-46011062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794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7"/>
                </a:solidFill>
              </a:defRPr>
            </a:pPr>
            <a:r>
              <a:rPr sz="1350" b="0">
                <a:solidFill>
                  <a:srgbClr val="5E7077"/>
                </a:solidFill>
              </a:rPr>
              <a:t>个人最高分 / 小组最高分 / 最清楚发音奖。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8B85A-9221-4513-9E94-680D8423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7077"/>
                </a:solidFill>
              </a:defRPr>
            </a:pPr>
            <a:r>
              <a:rPr sz="1800" b="0">
                <a:solidFill>
                  <a:srgbClr val="5E7077"/>
                </a:solidFill>
              </a:rPr>
              <a:t>老师提示：快答不是为了压力，是为了让句子变熟。</a:t>
            </a:r>
          </a:p>
        </p:txBody>
      </p:sp>
    </p:spTree>
    <p:extLst>
      <p:ext uri="{BB962C8B-B14F-4D97-AF65-F5344CB8AC3E}">
        <p14:creationId xmlns:p14="http://schemas.microsoft.com/office/powerpoint/2010/main" val="195019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CB1BC-75C6-4759-B979-0294389F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72"/>
                </a:solidFill>
              </a:defRPr>
            </a:pPr>
            <a:r>
              <a:rPr sz="1200" b="1">
                <a:solidFill>
                  <a:srgbClr val="176B72"/>
                </a:solidFill>
              </a:rPr>
              <a:t>GAME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F4873-07BE-48F9-A376-E901DC9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B33"/>
                </a:solidFill>
              </a:defRPr>
            </a:pPr>
            <a:r>
              <a:rPr sz="3150" b="1">
                <a:solidFill>
                  <a:srgbClr val="172B33"/>
                </a:solidFill>
              </a:rPr>
              <a:t>角色扮演转盘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4478B-C4CF-496B-89F3-B498F03D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4083B-89EF-4794-BB44-93FAF7FF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</a:defRPr>
            </a:pPr>
            <a:r>
              <a:rPr sz="1650" b="1">
                <a:solidFill>
                  <a:srgbClr val="176B72"/>
                </a:solidFill>
              </a:rPr>
              <a:t>Role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E56A9-3419-402F-A892-02ADC0AD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B33"/>
                </a:solidFill>
              </a:defRPr>
            </a:pPr>
            <a:r>
              <a:rPr sz="2025" b="1">
                <a:solidFill>
                  <a:srgbClr val="172B33"/>
                </a:solidFill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FAD64-F9BB-4E87-8BDF-06601F9F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7D894-FB9F-4874-9CC7-1B6604C8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</a:defRPr>
            </a:pPr>
            <a:r>
              <a:rPr sz="1650" b="1">
                <a:solidFill>
                  <a:srgbClr val="176B72"/>
                </a:solidFill>
              </a:rPr>
              <a:t>Situation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A88AD-ABB1-4E2B-B1B8-E6CE79BF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B33"/>
                </a:solidFill>
              </a:defRPr>
            </a:pPr>
            <a:r>
              <a:rPr sz="2025" b="1">
                <a:solidFill>
                  <a:srgbClr val="172B33"/>
                </a:solidFill>
              </a:rPr>
              <a:t>Buy milk tea with less sugar.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72859-EBAF-498E-AE28-BECCA6FB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039E8-7CAA-4480-86A3-086F87FD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</a:defRPr>
            </a:pPr>
            <a:r>
              <a:rPr sz="1650" b="1">
                <a:solidFill>
                  <a:srgbClr val="176B72"/>
                </a:solidFill>
              </a:rPr>
              <a:t>Useful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D6517-DE4A-4FDE-83C4-80787AAF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B33"/>
                </a:solidFill>
              </a:defRPr>
            </a:pPr>
            <a:r>
              <a:rPr sz="2025" b="1">
                <a:solidFill>
                  <a:srgbClr val="172B33"/>
                </a:solidFill>
              </a:rPr>
              <a:t>Can I have one milk tea with less sugar, please?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B4F52-6BCC-4EE8-BB1D-4B44F291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E7077"/>
                </a:solidFill>
              </a:defRPr>
            </a:pPr>
            <a:r>
              <a:rPr sz="1950" b="0">
                <a:solidFill>
                  <a:srgbClr val="5E7077"/>
                </a:solidFill>
              </a:rPr>
              <a:t>学生两人一组：A 先说，B 回应，然后交换角色。</a:t>
            </a:r>
          </a:p>
        </p:txBody>
      </p:sp>
    </p:spTree>
    <p:extLst>
      <p:ext uri="{BB962C8B-B14F-4D97-AF65-F5344CB8AC3E}">
        <p14:creationId xmlns:p14="http://schemas.microsoft.com/office/powerpoint/2010/main" val="1310605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FB976-48F2-4CF4-ACB0-2DB30B8C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72"/>
                </a:solidFill>
              </a:defRPr>
            </a:pPr>
            <a:r>
              <a:rPr sz="1200" b="1">
                <a:solidFill>
                  <a:srgbClr val="176B72"/>
                </a:solidFill>
              </a:rPr>
              <a:t>TEACHER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0F102-D6F1-4EC1-AEF9-08FB61DC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B33"/>
                </a:solidFill>
              </a:defRPr>
            </a:pPr>
            <a:r>
              <a:rPr sz="3150" b="1">
                <a:solidFill>
                  <a:srgbClr val="172B33"/>
                </a:solidFill>
              </a:rPr>
              <a:t>Ms Shirley 可以这样带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0B8DB-38B1-44D0-8B84-74590D9D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6656"/>
                </a:solidFill>
              </a:defRPr>
            </a:pPr>
            <a:r>
              <a:rPr sz="2100" b="1">
                <a:solidFill>
                  <a:srgbClr val="E86656"/>
                </a:solidFill>
              </a:rPr>
              <a:t>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A2882-6493-41B9-A0AF-9F7D7AE8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526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3"/>
                </a:solidFill>
              </a:defRPr>
            </a:pPr>
            <a:r>
              <a:rPr sz="2100" b="1">
                <a:solidFill>
                  <a:srgbClr val="172B33"/>
                </a:solidFill>
              </a:rPr>
              <a:t>Listen first. Don't translate word by word.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E1117-D10D-434A-A0F5-F902D889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6656"/>
                </a:solidFill>
              </a:defRPr>
            </a:pPr>
            <a:r>
              <a:rPr sz="2100" b="1">
                <a:solidFill>
                  <a:srgbClr val="E86656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CA696-18E9-4301-97DB-0B2F782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955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3"/>
                </a:solidFill>
              </a:defRPr>
            </a:pPr>
            <a:r>
              <a:rPr sz="2100" b="1">
                <a:solidFill>
                  <a:srgbClr val="172B33"/>
                </a:solidFill>
              </a:rPr>
              <a:t>Repeat after me: Can I have one milk tea, please?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8D298-5B14-498E-85E4-E30BD72D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6656"/>
                </a:solidFill>
              </a:defRPr>
            </a:pPr>
            <a:r>
              <a:rPr sz="2100" b="1">
                <a:solidFill>
                  <a:srgbClr val="E86656"/>
                </a:solidFill>
              </a:rPr>
              <a:t>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339E7-CDCE-43E2-ADFF-061B54E6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385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3"/>
                </a:solidFill>
              </a:defRPr>
            </a:pPr>
            <a:r>
              <a:rPr sz="2100" b="1">
                <a:solidFill>
                  <a:srgbClr val="172B33"/>
                </a:solidFill>
              </a:rPr>
              <a:t>Now change one word: milk tea -&gt; iced Milo.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3B76F-EC69-4FB0-B374-E95B5497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6656"/>
                </a:solidFill>
              </a:defRPr>
            </a:pPr>
            <a:r>
              <a:rPr sz="2100" b="1">
                <a:solidFill>
                  <a:srgbClr val="E86656"/>
                </a:solidFill>
              </a:rPr>
              <a:t>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09528-F4DF-4CE3-A4AC-5C03D5A0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814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3"/>
                </a:solidFill>
              </a:defRPr>
            </a:pPr>
            <a:r>
              <a:rPr sz="2100" b="1">
                <a:solidFill>
                  <a:srgbClr val="172B33"/>
                </a:solidFill>
              </a:rPr>
              <a:t>Ask your partner. Your partner must answer: 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2E194-7F15-4D0F-9C0D-E1510FFC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6656"/>
                </a:solidFill>
              </a:defRPr>
            </a:pPr>
            <a:r>
              <a:rPr sz="2100" b="1">
                <a:solidFill>
                  <a:srgbClr val="E86656"/>
                </a:solidFill>
              </a:rPr>
              <a:t>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19D53-DDE8-4DF8-8526-73E6BC24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3"/>
                </a:solidFill>
              </a:defRPr>
            </a:pPr>
            <a:r>
              <a:rPr sz="2100" b="1">
                <a:solidFill>
                  <a:srgbClr val="172B33"/>
                </a:solidFill>
              </a:rPr>
              <a:t>One more time, but louder and more natural.</a:t>
            </a:r>
          </a:p>
        </p:txBody>
      </p:sp>
    </p:spTree>
    <p:extLst>
      <p:ext uri="{BB962C8B-B14F-4D97-AF65-F5344CB8AC3E}">
        <p14:creationId xmlns:p14="http://schemas.microsoft.com/office/powerpoint/2010/main" val="10760775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54CC58-018B-4DB4-BC4F-3037D0D5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72"/>
                </a:solidFill>
              </a:defRPr>
            </a:pPr>
            <a:r>
              <a:rPr sz="1200" b="1">
                <a:solidFill>
                  <a:srgbClr val="176B72"/>
                </a:solidFill>
              </a:rPr>
              <a:t>CLASS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A6716-A964-42EC-B699-00F57206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B33"/>
                </a:solidFill>
              </a:defRPr>
            </a:pPr>
            <a:r>
              <a:rPr sz="3150" b="1">
                <a:solidFill>
                  <a:srgbClr val="172B33"/>
                </a:solidFill>
              </a:rPr>
              <a:t>一堂课可以这样用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0693B-B69F-479A-A8C8-31964830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6B7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01ED2-5329-45A2-A55F-27DB65E7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0-3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0BB61-5C44-4F52-83B2-F81698E5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3"/>
                </a:solidFill>
              </a:defRPr>
            </a:pPr>
            <a:r>
              <a:rPr sz="2100" b="1">
                <a:solidFill>
                  <a:srgbClr val="172B33"/>
                </a:solidFill>
              </a:rPr>
              <a:t>Warm up: repeat 3 magic sentences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BE0E6-082D-46F6-8182-1183E084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F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DD973-D97C-4796-986A-1F4EAB52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3-7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02EAD-7020-4EE1-B7F5-AAEC4B13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3"/>
                </a:solidFill>
              </a:defRPr>
            </a:pPr>
            <a:r>
              <a:rPr sz="2100" b="1">
                <a:solidFill>
                  <a:srgbClr val="172B33"/>
                </a:solidFill>
              </a:rPr>
              <a:t>Replace words: food, drinks, daily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D122D-86C8-4FCB-9247-DE028768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BD4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6AE07-F9F7-41E7-B0E1-076F3660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3"/>
                </a:solidFill>
              </a:defRPr>
            </a:pPr>
            <a:r>
              <a:rPr sz="1425" b="1">
                <a:solidFill>
                  <a:srgbClr val="172B33"/>
                </a:solidFill>
              </a:rPr>
              <a:t>7-12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DDEF6-5195-443B-8BB3-F1E3881A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3"/>
                </a:solidFill>
              </a:defRPr>
            </a:pPr>
            <a:r>
              <a:rPr sz="2100" b="1">
                <a:solidFill>
                  <a:srgbClr val="172B33"/>
                </a:solidFill>
              </a:rPr>
              <a:t>Game time: scene quick pick or milk tea 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169D9-5F79-48A1-94F9-37399F83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665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EDA6D-ACDE-47E6-89DD-844EC5D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12-15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5DC1C-4484-48B8-8113-AD7D926D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3"/>
                </a:solidFill>
              </a:defRPr>
            </a:pPr>
            <a:r>
              <a:rPr sz="2100" b="1">
                <a:solidFill>
                  <a:srgbClr val="172B33"/>
                </a:solidFill>
              </a:rPr>
              <a:t>Pair roleplay: speak without looking</a:t>
            </a:r>
          </a:p>
        </p:txBody>
      </p:sp>
    </p:spTree>
    <p:extLst>
      <p:ext uri="{BB962C8B-B14F-4D97-AF65-F5344CB8AC3E}">
        <p14:creationId xmlns:p14="http://schemas.microsoft.com/office/powerpoint/2010/main" val="16582798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B0D75-CE09-49F9-8ED9-D8B0F4EB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72"/>
                </a:solidFill>
              </a:defRPr>
            </a:pPr>
            <a:r>
              <a:rPr sz="1650" b="1">
                <a:solidFill>
                  <a:srgbClr val="176B72"/>
                </a:solidFill>
              </a:rPr>
              <a:t>Final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12CEA-84B8-4F10-AE3D-6143C7EE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B33"/>
                </a:solidFill>
              </a:defRPr>
            </a:pPr>
            <a:r>
              <a:rPr sz="4050" b="1">
                <a:solidFill>
                  <a:srgbClr val="172B33"/>
                </a:solidFill>
              </a:rPr>
              <a:t>Speak 3 Sentences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8C3B1-8CE2-4F90-9654-B61388C2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7077"/>
                </a:solidFill>
              </a:defRPr>
            </a:pPr>
            <a:r>
              <a:rPr sz="1950" b="0">
                <a:solidFill>
                  <a:srgbClr val="5E7077"/>
                </a:solidFill>
              </a:rPr>
              <a:t>Before students leave, each pair must say: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180B3-FF9F-4DF9-BB83-BFECA5A7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86656"/>
                </a:solidFill>
              </a:defRPr>
            </a:pPr>
            <a:r>
              <a:rPr sz="2550" b="1">
                <a:solidFill>
                  <a:srgbClr val="E86656"/>
                </a:solidFill>
              </a:rPr>
              <a:t>1 request + 1 shopping sentence + 1 polite sentence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E1158-FAA2-4825-8099-1252AAF7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E7077"/>
                </a:solidFill>
              </a:defRPr>
            </a:pPr>
            <a:r>
              <a:rPr sz="2100" b="0">
                <a:solidFill>
                  <a:srgbClr val="5E7077"/>
                </a:solidFill>
              </a:rPr>
              <a:t>English becomes useful when students can use it in tiny real moments.</a:t>
            </a:r>
          </a:p>
        </p:txBody>
      </p:sp>
    </p:spTree>
    <p:extLst>
      <p:ext uri="{BB962C8B-B14F-4D97-AF65-F5344CB8AC3E}">
        <p14:creationId xmlns:p14="http://schemas.microsoft.com/office/powerpoint/2010/main" val="1453823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2026-06-22T04:45:40.9440000Z</dcterms:created>
  <dcterms:modified xsi:type="dcterms:W3CDTF">2026-06-22T04:45:40.9440000Z</dcterms:modified>
</coreProperties>
</file>